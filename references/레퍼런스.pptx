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4384000" cy="13716000"/>
  <p:notesSz cx="6858000" cy="9144000"/>
  <p:embeddedFontLst>
    <p:embeddedFont>
      <p:font typeface="Pretendard SemiBold"/>
      <p:bold r:id="rId16"/>
    </p:embeddedFont>
    <p:embeddedFont>
      <p:font typeface="Pretendard Regular"/>
      <p:regular r:id="rId17"/>
    </p:embeddedFont>
    <p:embeddedFont>
      <p:font typeface="Pretendard Bold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.fntdata" Type="http://schemas.openxmlformats.org/officeDocument/2006/relationships/font"/><Relationship Id="rId17" Target="fonts/font2.fntdata" Type="http://schemas.openxmlformats.org/officeDocument/2006/relationships/font"/><Relationship Id="rId18" Target="fonts/font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8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15.png" Type="http://schemas.openxmlformats.org/officeDocument/2006/relationships/image"/><Relationship Id="rId5" Target="../media/image8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8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15.png" Type="http://schemas.openxmlformats.org/officeDocument/2006/relationships/image"/><Relationship Id="rId5" Target="../media/image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3.png" Type="http://schemas.openxmlformats.org/officeDocument/2006/relationships/image"/><Relationship Id="rId6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5600" y="368300"/>
            <a:ext cx="23660100" cy="1299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028700"/>
            <a:ext cx="224282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8300" y="12585700"/>
            <a:ext cx="236601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918700" y="3492500"/>
            <a:ext cx="4559300" cy="838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3716000" y="10096500"/>
            <a:ext cx="609600" cy="6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058400" y="10096500"/>
            <a:ext cx="609600" cy="63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9855200" y="3632200"/>
            <a:ext cx="4686300" cy="596900"/>
          </a:xfrm>
          <a:prstGeom prst="rect">
            <a:avLst/>
          </a:prstGeom>
        </p:spPr>
        <p:txBody>
          <a:bodyPr anchor="ctr" rtlCol="false" lIns="0" tIns="48767" rIns="0" bIns="48767"/>
          <a:lstStyle/>
          <a:p>
            <a:pPr algn="ctr" lvl="0">
              <a:lnSpc>
                <a:spcPct val="96279"/>
              </a:lnSpc>
            </a:pPr>
            <a:r>
              <a:rPr lang="en-US" sz="3199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Public Institution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200" y="4889500"/>
            <a:ext cx="239776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82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깔끔하고 간편한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53800" y="12839700"/>
            <a:ext cx="393700" cy="266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861800" y="12788900"/>
            <a:ext cx="1231900" cy="342900"/>
          </a:xfrm>
          <a:prstGeom prst="rect">
            <a:avLst/>
          </a:prstGeom>
        </p:spPr>
        <p:txBody>
          <a:bodyPr anchor="t" rtlCol="false" lIns="0" tIns="44026" rIns="0" bIns="0"/>
          <a:lstStyle/>
          <a:p>
            <a:pPr algn="l" lvl="0">
              <a:lnSpc>
                <a:spcPct val="83000"/>
              </a:lnSpc>
            </a:pPr>
            <a:r>
              <a:rPr lang="en-US" sz="17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MIRI CITY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656300" y="1333500"/>
            <a:ext cx="4470400" cy="3683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DATE. 2090.8.15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7300" y="1346200"/>
            <a:ext cx="21717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9518"/>
              </a:lnSpc>
            </a:pPr>
            <a:r>
              <a:rPr lang="en-US" sz="1866" b="false" i="false" u="none" strike="noStrike" cap="all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PUBLIC Proposal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48500" y="9906000"/>
            <a:ext cx="2984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사업부 팀장 김미리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93400" y="9906000"/>
            <a:ext cx="2984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070.1234.5678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51000" y="9906000"/>
            <a:ext cx="2984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www.miricanvas.com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600" y="6172200"/>
            <a:ext cx="24193500" cy="250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3866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공공기</a:t>
            </a:r>
            <a:r>
              <a:rPr lang="en-US" sz="13866" b="false" i="false" u="none" strike="noStrike" spc="1300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관/</a:t>
            </a:r>
            <a:r>
              <a:rPr lang="en-US" sz="13866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지자체 템플릿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5600" y="368300"/>
            <a:ext cx="23660100" cy="1299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77900" y="12484100"/>
            <a:ext cx="224282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77900" y="3733800"/>
            <a:ext cx="224282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8300" y="355600"/>
            <a:ext cx="23660100" cy="444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689100" y="12725400"/>
            <a:ext cx="4229100" cy="3810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l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MIRI CITY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12776200"/>
            <a:ext cx="393700" cy="266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615400" y="12750800"/>
            <a:ext cx="1638300" cy="3810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r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35500" y="4953000"/>
            <a:ext cx="1574800" cy="1028700"/>
          </a:xfrm>
          <a:prstGeom prst="rect">
            <a:avLst/>
          </a:prstGeom>
        </p:spPr>
        <p:txBody>
          <a:bodyPr anchor="t" rtlCol="false" lIns="0" tIns="71118" rIns="0" bIns="0"/>
          <a:lstStyle/>
          <a:p>
            <a:pPr algn="ctr" lvl="0">
              <a:lnSpc>
                <a:spcPct val="99600"/>
              </a:lnSpc>
            </a:pPr>
            <a:r>
              <a:rPr lang="en-US" sz="5599" b="fals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84500" y="5943600"/>
            <a:ext cx="4864100" cy="787400"/>
          </a:xfrm>
          <a:prstGeom prst="rect">
            <a:avLst/>
          </a:prstGeom>
        </p:spPr>
        <p:txBody>
          <a:bodyPr anchor="t" rtlCol="false" lIns="0" tIns="81278" rIns="0" bIns="0"/>
          <a:lstStyle/>
          <a:p>
            <a:pPr algn="ctr" lvl="0">
              <a:lnSpc>
                <a:spcPct val="91299"/>
              </a:lnSpc>
            </a:pPr>
            <a:r>
              <a:rPr lang="en-US" sz="4266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공공기관 소개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22600" y="6908800"/>
            <a:ext cx="47879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설명을 적어주세요.</a:t>
            </a:r>
          </a:p>
          <a:p>
            <a:pPr algn="ctr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설명을 적어주세요.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04600" y="4953000"/>
            <a:ext cx="1574800" cy="1028700"/>
          </a:xfrm>
          <a:prstGeom prst="rect">
            <a:avLst/>
          </a:prstGeom>
        </p:spPr>
        <p:txBody>
          <a:bodyPr anchor="t" rtlCol="false" lIns="0" tIns="71118" rIns="0" bIns="0"/>
          <a:lstStyle/>
          <a:p>
            <a:pPr algn="ctr" lvl="0">
              <a:lnSpc>
                <a:spcPct val="99600"/>
              </a:lnSpc>
            </a:pPr>
            <a:r>
              <a:rPr lang="en-US" sz="5599" b="fals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66300" y="5943600"/>
            <a:ext cx="4864100" cy="787400"/>
          </a:xfrm>
          <a:prstGeom prst="rect">
            <a:avLst/>
          </a:prstGeom>
        </p:spPr>
        <p:txBody>
          <a:bodyPr anchor="t" rtlCol="false" lIns="0" tIns="81278" rIns="0" bIns="0"/>
          <a:lstStyle/>
          <a:p>
            <a:pPr algn="ctr" lvl="0">
              <a:lnSpc>
                <a:spcPct val="91299"/>
              </a:lnSpc>
            </a:pPr>
            <a:r>
              <a:rPr lang="en-US" sz="4266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공공기관 서비스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91700" y="6908800"/>
            <a:ext cx="47879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설명을 적어주세요.</a:t>
            </a:r>
          </a:p>
          <a:p>
            <a:pPr algn="ctr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설명을 적어주세요.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173700" y="4953000"/>
            <a:ext cx="1574800" cy="1028700"/>
          </a:xfrm>
          <a:prstGeom prst="rect">
            <a:avLst/>
          </a:prstGeom>
        </p:spPr>
        <p:txBody>
          <a:bodyPr anchor="t" rtlCol="false" lIns="0" tIns="71118" rIns="0" bIns="0"/>
          <a:lstStyle/>
          <a:p>
            <a:pPr algn="ctr" lvl="0">
              <a:lnSpc>
                <a:spcPct val="99600"/>
              </a:lnSpc>
            </a:pPr>
            <a:r>
              <a:rPr lang="en-US" sz="5599" b="fals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35400" y="5943600"/>
            <a:ext cx="4864100" cy="787400"/>
          </a:xfrm>
          <a:prstGeom prst="rect">
            <a:avLst/>
          </a:prstGeom>
        </p:spPr>
        <p:txBody>
          <a:bodyPr anchor="t" rtlCol="false" lIns="0" tIns="81278" rIns="0" bIns="0"/>
          <a:lstStyle/>
          <a:p>
            <a:pPr algn="ctr" lvl="0">
              <a:lnSpc>
                <a:spcPct val="91299"/>
              </a:lnSpc>
            </a:pPr>
            <a:r>
              <a:rPr lang="en-US" sz="4266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분야별 소개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73500" y="6908800"/>
            <a:ext cx="47879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설명을 적어주세요.</a:t>
            </a:r>
          </a:p>
          <a:p>
            <a:pPr algn="ctr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설명을 적어주세요.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26400" y="8483600"/>
            <a:ext cx="1574800" cy="1028700"/>
          </a:xfrm>
          <a:prstGeom prst="rect">
            <a:avLst/>
          </a:prstGeom>
        </p:spPr>
        <p:txBody>
          <a:bodyPr anchor="t" rtlCol="false" lIns="0" tIns="71118" rIns="0" bIns="0"/>
          <a:lstStyle/>
          <a:p>
            <a:pPr algn="ctr" lvl="0">
              <a:lnSpc>
                <a:spcPct val="99600"/>
              </a:lnSpc>
            </a:pPr>
            <a:r>
              <a:rPr lang="en-US" sz="5599" b="fals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75400" y="9474200"/>
            <a:ext cx="4864100" cy="787400"/>
          </a:xfrm>
          <a:prstGeom prst="rect">
            <a:avLst/>
          </a:prstGeom>
        </p:spPr>
        <p:txBody>
          <a:bodyPr anchor="t" rtlCol="false" lIns="0" tIns="81278" rIns="0" bIns="0"/>
          <a:lstStyle/>
          <a:p>
            <a:pPr algn="ctr" lvl="0">
              <a:lnSpc>
                <a:spcPct val="91299"/>
              </a:lnSpc>
            </a:pPr>
            <a:r>
              <a:rPr lang="en-US" sz="4266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지자체 의회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13500" y="10439400"/>
            <a:ext cx="47879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설명을 적어주세요.</a:t>
            </a:r>
          </a:p>
          <a:p>
            <a:pPr algn="ctr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설명을 적어주세요.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95500" y="8483600"/>
            <a:ext cx="1574800" cy="1028700"/>
          </a:xfrm>
          <a:prstGeom prst="rect">
            <a:avLst/>
          </a:prstGeom>
        </p:spPr>
        <p:txBody>
          <a:bodyPr anchor="t" rtlCol="false" lIns="0" tIns="71118" rIns="0" bIns="0"/>
          <a:lstStyle/>
          <a:p>
            <a:pPr algn="ctr" lvl="0">
              <a:lnSpc>
                <a:spcPct val="99600"/>
              </a:lnSpc>
            </a:pPr>
            <a:r>
              <a:rPr lang="en-US" sz="5599" b="fals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44500" y="9474200"/>
            <a:ext cx="4864100" cy="787400"/>
          </a:xfrm>
          <a:prstGeom prst="rect">
            <a:avLst/>
          </a:prstGeom>
        </p:spPr>
        <p:txBody>
          <a:bodyPr anchor="t" rtlCol="false" lIns="0" tIns="81278" rIns="0" bIns="0"/>
          <a:lstStyle/>
          <a:p>
            <a:pPr algn="ctr" lvl="0">
              <a:lnSpc>
                <a:spcPct val="91299"/>
              </a:lnSpc>
            </a:pPr>
            <a:r>
              <a:rPr lang="en-US" sz="4266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지자체 복지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82600" y="10439400"/>
            <a:ext cx="47879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설명을 적어주세요.</a:t>
            </a:r>
          </a:p>
          <a:p>
            <a:pPr algn="ctr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설명을 적어주세요.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50000" y="1193800"/>
            <a:ext cx="11696700" cy="596900"/>
          </a:xfrm>
          <a:prstGeom prst="rect">
            <a:avLst/>
          </a:prstGeom>
        </p:spPr>
        <p:txBody>
          <a:bodyPr anchor="t" rtlCol="false" lIns="0" tIns="6096" rIns="0" bIns="0"/>
          <a:lstStyle/>
          <a:p>
            <a:pPr algn="ctr" lvl="0">
              <a:lnSpc>
                <a:spcPct val="113710"/>
              </a:lnSpc>
            </a:pPr>
            <a:r>
              <a:rPr lang="en-US" sz="31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CONTENTS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35700" y="1790700"/>
            <a:ext cx="11912600" cy="16383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소개 목차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5600" y="355600"/>
            <a:ext cx="23660100" cy="1299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18700" y="4559300"/>
            <a:ext cx="4559300" cy="838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77900" y="1028700"/>
            <a:ext cx="224282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8300" y="12585700"/>
            <a:ext cx="23660100" cy="762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855200" y="4699000"/>
            <a:ext cx="4686300" cy="596900"/>
          </a:xfrm>
          <a:prstGeom prst="rect">
            <a:avLst/>
          </a:prstGeom>
        </p:spPr>
        <p:txBody>
          <a:bodyPr anchor="ctr" rtlCol="false" lIns="0" tIns="48767" rIns="0" bIns="48767"/>
          <a:lstStyle/>
          <a:p>
            <a:pPr algn="ctr" lvl="0">
              <a:lnSpc>
                <a:spcPct val="96279"/>
              </a:lnSpc>
            </a:pPr>
            <a:r>
              <a:rPr lang="en-US" sz="3199" b="fals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CHAPTER 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656300" y="1333500"/>
            <a:ext cx="4470400" cy="3683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>
                <a:solidFill>
                  <a:srgbClr val="F6F6FE"/>
                </a:solidFill>
                <a:latin typeface="Pretendard Regular"/>
                <a:ea typeface="Pretendard Regular"/>
                <a:cs typeface="Pretendard Regular"/>
              </a:rPr>
              <a:t>DATE. 2090.8.15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300" y="1346200"/>
            <a:ext cx="35941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9518"/>
              </a:lnSpc>
            </a:pPr>
            <a:r>
              <a:rPr lang="en-US" sz="1866" b="false" i="false" u="none" strike="noStrike" cap="all">
                <a:solidFill>
                  <a:srgbClr val="F6F6FE"/>
                </a:solidFill>
                <a:latin typeface="Pretendard Regular"/>
                <a:ea typeface="Pretendard Regular"/>
                <a:cs typeface="Pretendard Regular"/>
              </a:rPr>
              <a:t>PUBLIC PROPOSAL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00" y="5638800"/>
            <a:ext cx="24345900" cy="325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8132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공공기관 소개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353800" y="12839700"/>
            <a:ext cx="393700" cy="266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861800" y="12788900"/>
            <a:ext cx="1231900" cy="342900"/>
          </a:xfrm>
          <a:prstGeom prst="rect">
            <a:avLst/>
          </a:prstGeom>
        </p:spPr>
        <p:txBody>
          <a:bodyPr anchor="t" rtlCol="false" lIns="0" tIns="44026" rIns="0" bIns="0"/>
          <a:lstStyle/>
          <a:p>
            <a:pPr algn="l" lvl="0">
              <a:lnSpc>
                <a:spcPct val="83000"/>
              </a:lnSpc>
            </a:pPr>
            <a:r>
              <a:rPr lang="en-US" sz="17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MIRI CITY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5600" y="368300"/>
            <a:ext cx="23660100" cy="1299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77900" y="3733800"/>
            <a:ext cx="224282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77900" y="12484100"/>
            <a:ext cx="224282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8300" y="355600"/>
            <a:ext cx="236601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4686300"/>
            <a:ext cx="9207500" cy="687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328400" y="5994400"/>
            <a:ext cx="2628900" cy="698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185900" y="5994400"/>
            <a:ext cx="2628900" cy="698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043400" y="5994400"/>
            <a:ext cx="2628900" cy="698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6350000" y="1193800"/>
            <a:ext cx="11696700" cy="596900"/>
          </a:xfrm>
          <a:prstGeom prst="rect">
            <a:avLst/>
          </a:prstGeom>
        </p:spPr>
        <p:txBody>
          <a:bodyPr anchor="t" rtlCol="false" lIns="0" tIns="6096" rIns="0" bIns="0"/>
          <a:lstStyle/>
          <a:p>
            <a:pPr algn="ctr" lvl="0">
              <a:lnSpc>
                <a:spcPct val="113710"/>
              </a:lnSpc>
            </a:pPr>
            <a:r>
              <a:rPr lang="en-US" sz="31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ABOUT MIRI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35700" y="1790700"/>
            <a:ext cx="11912600" cy="16383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공공기관 소개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28400" y="7112000"/>
            <a:ext cx="11747500" cy="443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3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저희 미리 공공기관은 미리시 지방자치단체가 설립하고 운영하는 조직으로, 2090년에 설립되어 시민의 이익을 위해 다양한 서비스를 제공합니다. 주로 교육, 의료, 교통, 환경 보호, 사회 복지 등 여러 분야의 서비스를 제공하며, 시민의 삶의 질을 향상시키는 역할을 합니다. 공공기관은 투명성과 공정성을 바탕으로 운영되며, 시민의 세금으로 재원을 마련합니다. 이를 통해 사회적 불평등을 해소하고, 모든 미리 시민이 기본적인 권리를 누릴 수 있도록 적극적으로 지원하는 공공기관입니다.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77600" y="6096000"/>
            <a:ext cx="2730500" cy="508000"/>
          </a:xfrm>
          <a:prstGeom prst="rect">
            <a:avLst/>
          </a:prstGeom>
        </p:spPr>
        <p:txBody>
          <a:bodyPr anchor="t" rtlCol="false" lIns="0" tIns="40471" rIns="0" bIns="0"/>
          <a:lstStyle/>
          <a:p>
            <a:pPr algn="ctr" lvl="0">
              <a:lnSpc>
                <a:spcPct val="96279"/>
              </a:lnSpc>
            </a:pPr>
            <a:r>
              <a:rPr lang="en-US" sz="2655" b="fals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#공공기관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35100" y="6096000"/>
            <a:ext cx="2730500" cy="508000"/>
          </a:xfrm>
          <a:prstGeom prst="rect">
            <a:avLst/>
          </a:prstGeom>
        </p:spPr>
        <p:txBody>
          <a:bodyPr anchor="t" rtlCol="false" lIns="0" tIns="40471" rIns="0" bIns="0"/>
          <a:lstStyle/>
          <a:p>
            <a:pPr algn="ctr" lvl="0">
              <a:lnSpc>
                <a:spcPct val="96279"/>
              </a:lnSpc>
            </a:pPr>
            <a:r>
              <a:rPr lang="en-US" sz="2655" b="fals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#사회복지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92600" y="6096000"/>
            <a:ext cx="2730500" cy="508000"/>
          </a:xfrm>
          <a:prstGeom prst="rect">
            <a:avLst/>
          </a:prstGeom>
        </p:spPr>
        <p:txBody>
          <a:bodyPr anchor="t" rtlCol="false" lIns="0" tIns="40471" rIns="0" bIns="0"/>
          <a:lstStyle/>
          <a:p>
            <a:pPr algn="ctr" lvl="0">
              <a:lnSpc>
                <a:spcPct val="96279"/>
              </a:lnSpc>
            </a:pPr>
            <a:r>
              <a:rPr lang="en-US" sz="2655" b="fals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#시민만족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615400" y="12750800"/>
            <a:ext cx="1638300" cy="3810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r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89100" y="12725400"/>
            <a:ext cx="4229100" cy="3810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l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MIRI CITY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1900" y="12776200"/>
            <a:ext cx="3937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5600" y="368300"/>
            <a:ext cx="23660100" cy="1299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77900" y="3733800"/>
            <a:ext cx="224282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4252">
            <a:off x="977900" y="12484100"/>
            <a:ext cx="224282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8300" y="355600"/>
            <a:ext cx="236601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147300" y="8102600"/>
            <a:ext cx="4102100" cy="5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92300" y="5435600"/>
            <a:ext cx="8928100" cy="516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525500" y="5435600"/>
            <a:ext cx="8928100" cy="5168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6350000" y="1219200"/>
            <a:ext cx="11696700" cy="596900"/>
          </a:xfrm>
          <a:prstGeom prst="rect">
            <a:avLst/>
          </a:prstGeom>
        </p:spPr>
        <p:txBody>
          <a:bodyPr anchor="t" rtlCol="false" lIns="0" tIns="6096" rIns="0" bIns="0"/>
          <a:lstStyle/>
          <a:p>
            <a:pPr algn="ctr" lvl="0">
              <a:lnSpc>
                <a:spcPct val="113710"/>
              </a:lnSpc>
            </a:pPr>
            <a:r>
              <a:rPr lang="en-US" sz="31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ABOUT MIRI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35700" y="1816100"/>
            <a:ext cx="11912600" cy="16383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공공기관 소개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615400" y="12750800"/>
            <a:ext cx="1638300" cy="3810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r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41500" y="10858500"/>
            <a:ext cx="90170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해당 기관에 대한 간단한 설명을 적어주세요.</a:t>
            </a:r>
          </a:p>
          <a:p>
            <a:pPr algn="ctr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해당 기관에 대한 간단한 설명을 적어주세요.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03400" y="4457700"/>
            <a:ext cx="91059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33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키워드 01 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87400" y="10858500"/>
            <a:ext cx="90170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해당 기관에 대한 간단한 설명을 적어주세요.</a:t>
            </a:r>
          </a:p>
          <a:p>
            <a:pPr algn="ctr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해당 기관에 대한 간단한 설명을 적어주세요.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49300" y="4457700"/>
            <a:ext cx="91059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33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키워드 02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9100" y="12725400"/>
            <a:ext cx="4229100" cy="3810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l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MIRI CITY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1900" y="12776200"/>
            <a:ext cx="3937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5600" y="368300"/>
            <a:ext cx="23660100" cy="1299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77900" y="12484100"/>
            <a:ext cx="224282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4252">
            <a:off x="977900" y="3733800"/>
            <a:ext cx="224282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8300" y="355600"/>
            <a:ext cx="236601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19300" y="4673600"/>
            <a:ext cx="20358100" cy="6896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277100" y="8102600"/>
            <a:ext cx="30734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4071600" y="8102600"/>
            <a:ext cx="30734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97400" y="6896100"/>
            <a:ext cx="1651000" cy="165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787900" y="7061200"/>
            <a:ext cx="1308100" cy="130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366500" y="6896100"/>
            <a:ext cx="1651000" cy="1651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518900" y="7035800"/>
            <a:ext cx="1358900" cy="1371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135600" y="6896100"/>
            <a:ext cx="1651000" cy="1651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8376900" y="7124700"/>
            <a:ext cx="1168400" cy="1181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21615400" y="12750800"/>
            <a:ext cx="1638300" cy="3810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r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50000" y="1193800"/>
            <a:ext cx="11696700" cy="596900"/>
          </a:xfrm>
          <a:prstGeom prst="rect">
            <a:avLst/>
          </a:prstGeom>
        </p:spPr>
        <p:txBody>
          <a:bodyPr anchor="t" rtlCol="false" lIns="0" tIns="6096" rIns="0" bIns="0"/>
          <a:lstStyle/>
          <a:p>
            <a:pPr algn="ctr" lvl="0">
              <a:lnSpc>
                <a:spcPct val="113710"/>
              </a:lnSpc>
            </a:pPr>
            <a:r>
              <a:rPr lang="en-US" sz="31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ABOUT MIRI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35700" y="1828800"/>
            <a:ext cx="11912600" cy="16383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공공기관 소개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73400" y="6007100"/>
            <a:ext cx="4699000" cy="5969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ctr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누적이용자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27300" y="8661400"/>
            <a:ext cx="5791200" cy="1511300"/>
          </a:xfrm>
          <a:prstGeom prst="rect">
            <a:avLst/>
          </a:prstGeom>
        </p:spPr>
        <p:txBody>
          <a:bodyPr anchor="t" rtlCol="false" lIns="0" tIns="105715" rIns="0" bIns="0"/>
          <a:lstStyle/>
          <a:p>
            <a:pPr algn="ctr" lvl="0">
              <a:lnSpc>
                <a:spcPct val="99600"/>
              </a:lnSpc>
            </a:pPr>
            <a:r>
              <a:rPr lang="en-US" sz="8323" b="false" i="false" u="none" strike="noStrike" spc="-100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2</a:t>
            </a:r>
            <a:r>
              <a:rPr lang="en-US" sz="8323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21400" y="9296400"/>
            <a:ext cx="1511300" cy="5969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l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만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42500" y="6007100"/>
            <a:ext cx="4699000" cy="5969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ctr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고객 재방문률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611600" y="6007100"/>
            <a:ext cx="4699000" cy="5969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ctr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고객 평가 점수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96400" y="8661400"/>
            <a:ext cx="5791200" cy="1511300"/>
          </a:xfrm>
          <a:prstGeom prst="rect">
            <a:avLst/>
          </a:prstGeom>
        </p:spPr>
        <p:txBody>
          <a:bodyPr anchor="t" rtlCol="false" lIns="0" tIns="105715" rIns="0" bIns="0"/>
          <a:lstStyle/>
          <a:p>
            <a:pPr algn="ctr" lvl="0">
              <a:lnSpc>
                <a:spcPct val="99600"/>
              </a:lnSpc>
            </a:pPr>
            <a:r>
              <a:rPr lang="en-US" sz="8323" b="false" i="false" u="none" strike="noStrike" spc="-100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96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03200" y="9296400"/>
            <a:ext cx="1511300" cy="5969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l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014700" y="8661400"/>
            <a:ext cx="5791200" cy="1511300"/>
          </a:xfrm>
          <a:prstGeom prst="rect">
            <a:avLst/>
          </a:prstGeom>
        </p:spPr>
        <p:txBody>
          <a:bodyPr anchor="t" rtlCol="false" lIns="0" tIns="105715" rIns="0" bIns="0"/>
          <a:lstStyle/>
          <a:p>
            <a:pPr algn="ctr" lvl="0">
              <a:lnSpc>
                <a:spcPct val="99600"/>
              </a:lnSpc>
            </a:pPr>
            <a:r>
              <a:rPr lang="en-US" sz="8323" b="false" i="false" u="none" strike="noStrike" spc="-100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98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621500" y="9296400"/>
            <a:ext cx="1511300" cy="5969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l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점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89100" y="12725400"/>
            <a:ext cx="4229100" cy="3810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l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MIRI CITY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31900" y="12776200"/>
            <a:ext cx="3937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5600" y="368300"/>
            <a:ext cx="23660100" cy="1299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77900" y="12484100"/>
            <a:ext cx="224282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77900" y="3733800"/>
            <a:ext cx="224282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8300" y="355600"/>
            <a:ext cx="236601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52700" y="5562600"/>
            <a:ext cx="9385300" cy="6210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4292600" y="9309100"/>
            <a:ext cx="59055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446000" y="5562600"/>
            <a:ext cx="9385300" cy="6210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4185900" y="9309100"/>
            <a:ext cx="59055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1615400" y="12750800"/>
            <a:ext cx="1638300" cy="3810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r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29300" y="7937500"/>
            <a:ext cx="2743200" cy="889000"/>
          </a:xfrm>
          <a:prstGeom prst="rect">
            <a:avLst/>
          </a:prstGeom>
        </p:spPr>
        <p:txBody>
          <a:bodyPr anchor="t" rtlCol="false" lIns="0" tIns="60958" rIns="0" bIns="0"/>
          <a:lstStyle/>
          <a:p>
            <a:pPr algn="l" lvl="0">
              <a:lnSpc>
                <a:spcPct val="99600"/>
              </a:lnSpc>
            </a:pPr>
            <a:r>
              <a:rPr lang="en-US" sz="47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50000" y="1193800"/>
            <a:ext cx="11696700" cy="596900"/>
          </a:xfrm>
          <a:prstGeom prst="rect">
            <a:avLst/>
          </a:prstGeom>
        </p:spPr>
        <p:txBody>
          <a:bodyPr anchor="t" rtlCol="false" lIns="0" tIns="6096" rIns="0" bIns="0"/>
          <a:lstStyle/>
          <a:p>
            <a:pPr algn="ctr" lvl="0">
              <a:lnSpc>
                <a:spcPct val="113710"/>
              </a:lnSpc>
            </a:pPr>
            <a:r>
              <a:rPr lang="en-US" sz="31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ABOUT MIRI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35700" y="1828800"/>
            <a:ext cx="11912600" cy="16383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공공기관 소개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7100" y="4305300"/>
            <a:ext cx="225298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삶의 질을 높여주는 미리시 공공기관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47900" y="6565900"/>
            <a:ext cx="9994900" cy="2870200"/>
          </a:xfrm>
          <a:prstGeom prst="rect">
            <a:avLst/>
          </a:prstGeom>
        </p:spPr>
        <p:txBody>
          <a:bodyPr anchor="t" rtlCol="false" lIns="0" tIns="203195" rIns="0" bIns="0"/>
          <a:lstStyle/>
          <a:p>
            <a:pPr algn="ctr" lvl="0">
              <a:lnSpc>
                <a:spcPct val="99600"/>
              </a:lnSpc>
            </a:pPr>
            <a:r>
              <a:rPr lang="en-US" sz="15999" b="false" i="false" u="none" strike="noStrike" spc="-200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2</a:t>
            </a:r>
            <a:r>
              <a:rPr lang="en-US" sz="15999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36000" y="7937500"/>
            <a:ext cx="2743200" cy="889000"/>
          </a:xfrm>
          <a:prstGeom prst="rect">
            <a:avLst/>
          </a:prstGeom>
        </p:spPr>
        <p:txBody>
          <a:bodyPr anchor="t" rtlCol="false" lIns="0" tIns="60959" rIns="0" bIns="0"/>
          <a:lstStyle/>
          <a:p>
            <a:pPr algn="l" lvl="0">
              <a:lnSpc>
                <a:spcPct val="99600"/>
              </a:lnSpc>
            </a:pPr>
            <a:r>
              <a:rPr lang="en-US" sz="47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01900" y="9994900"/>
            <a:ext cx="9486900" cy="1016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666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수치에 관한 내용을 입력해 주세요.</a:t>
            </a:r>
          </a:p>
          <a:p>
            <a:pPr algn="ctr" lvl="0">
              <a:lnSpc>
                <a:spcPct val="124499"/>
              </a:lnSpc>
            </a:pPr>
            <a:r>
              <a:rPr lang="en-US" sz="2666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수치에 관한 내용을 입력해 주세요.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41200" y="6565900"/>
            <a:ext cx="9994900" cy="2870200"/>
          </a:xfrm>
          <a:prstGeom prst="rect">
            <a:avLst/>
          </a:prstGeom>
        </p:spPr>
        <p:txBody>
          <a:bodyPr anchor="t" rtlCol="false" lIns="0" tIns="203195" rIns="0" bIns="0"/>
          <a:lstStyle/>
          <a:p>
            <a:pPr algn="ctr" lvl="0">
              <a:lnSpc>
                <a:spcPct val="99600"/>
              </a:lnSpc>
            </a:pPr>
            <a:r>
              <a:rPr lang="en-US" sz="15999" b="false" i="false" u="none" strike="noStrike" spc="-200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96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95200" y="9994900"/>
            <a:ext cx="9486900" cy="1016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666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수치에 관한 내용을 입력해 주세요.</a:t>
            </a:r>
          </a:p>
          <a:p>
            <a:pPr algn="ctr" lvl="0">
              <a:lnSpc>
                <a:spcPct val="124499"/>
              </a:lnSpc>
            </a:pPr>
            <a:r>
              <a:rPr lang="en-US" sz="2666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수치에 관한 내용을 입력해 주세요.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02200" y="6184900"/>
            <a:ext cx="4699000" cy="5969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ctr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누적이용자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95500" y="6184900"/>
            <a:ext cx="4699000" cy="5969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ctr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고객 재방문률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89100" y="12725400"/>
            <a:ext cx="4229100" cy="3810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l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MIRI CITY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" y="12776200"/>
            <a:ext cx="3937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5600" y="368300"/>
            <a:ext cx="23660100" cy="1299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77900" y="12484100"/>
            <a:ext cx="224282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77900" y="3733800"/>
            <a:ext cx="224282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8300" y="355600"/>
            <a:ext cx="236601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376400" y="4902200"/>
            <a:ext cx="8496300" cy="2933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817600" y="6273800"/>
            <a:ext cx="254000" cy="406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1300" y="4902200"/>
            <a:ext cx="12001500" cy="2933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4902200" y="6350000"/>
            <a:ext cx="18669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376400" y="8445500"/>
            <a:ext cx="8496300" cy="2933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817600" y="9817100"/>
            <a:ext cx="254000" cy="406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1300" y="8445500"/>
            <a:ext cx="12001500" cy="2933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4902200" y="9880600"/>
            <a:ext cx="1866900" cy="50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460500" y="5461000"/>
            <a:ext cx="4432300" cy="533400"/>
          </a:xfrm>
          <a:prstGeom prst="rect">
            <a:avLst/>
          </a:prstGeom>
        </p:spPr>
        <p:txBody>
          <a:bodyPr anchor="t" rtlCol="false" lIns="0" tIns="35559" rIns="0" bIns="0"/>
          <a:lstStyle/>
          <a:p>
            <a:pPr algn="ctr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고객 재방문률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68500" y="5715000"/>
            <a:ext cx="3238500" cy="1752600"/>
          </a:xfrm>
          <a:prstGeom prst="rect">
            <a:avLst/>
          </a:prstGeom>
        </p:spPr>
        <p:txBody>
          <a:bodyPr anchor="t" rtlCol="false" lIns="0" tIns="122532" rIns="0" bIns="0"/>
          <a:lstStyle/>
          <a:p>
            <a:pPr algn="ctr" lvl="0">
              <a:lnSpc>
                <a:spcPct val="99600"/>
              </a:lnSpc>
            </a:pPr>
            <a:r>
              <a:rPr lang="en-US" sz="9648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96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32300" y="6540500"/>
            <a:ext cx="749300" cy="647700"/>
          </a:xfrm>
          <a:prstGeom prst="rect">
            <a:avLst/>
          </a:prstGeom>
        </p:spPr>
        <p:txBody>
          <a:bodyPr anchor="t" rtlCol="false" lIns="0" tIns="44026" rIns="0" bIns="0"/>
          <a:lstStyle/>
          <a:p>
            <a:pPr algn="l" lvl="0">
              <a:lnSpc>
                <a:spcPct val="99600"/>
              </a:lnSpc>
            </a:pPr>
            <a:r>
              <a:rPr lang="en-US" sz="3466" b="false" i="false" u="none" strike="noStrike" spc="-200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26200" y="5549900"/>
            <a:ext cx="6502400" cy="533400"/>
          </a:xfrm>
          <a:prstGeom prst="rect">
            <a:avLst/>
          </a:prstGeom>
        </p:spPr>
        <p:txBody>
          <a:bodyPr anchor="t" rtlCol="false" lIns="0" tIns="35559" rIns="0" bIns="0"/>
          <a:lstStyle/>
          <a:p>
            <a:pPr algn="l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높은 재방문률을 경험하세요.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26200" y="6273800"/>
            <a:ext cx="64897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수치에 관한 내용을 입력해 주세요.</a:t>
            </a:r>
          </a:p>
          <a:p>
            <a:pPr algn="l" lvl="0">
              <a:lnSpc>
                <a:spcPct val="1244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수치에 관한 내용을 입력해 주세요.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0500" y="9004300"/>
            <a:ext cx="4432300" cy="533400"/>
          </a:xfrm>
          <a:prstGeom prst="rect">
            <a:avLst/>
          </a:prstGeom>
        </p:spPr>
        <p:txBody>
          <a:bodyPr anchor="t" rtlCol="false" lIns="0" tIns="35559" rIns="0" bIns="0"/>
          <a:lstStyle/>
          <a:p>
            <a:pPr algn="ctr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고객 만족도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68500" y="9258300"/>
            <a:ext cx="3238500" cy="1752600"/>
          </a:xfrm>
          <a:prstGeom prst="rect">
            <a:avLst/>
          </a:prstGeom>
        </p:spPr>
        <p:txBody>
          <a:bodyPr anchor="t" rtlCol="false" lIns="0" tIns="122532" rIns="0" bIns="0"/>
          <a:lstStyle/>
          <a:p>
            <a:pPr algn="ctr" lvl="0">
              <a:lnSpc>
                <a:spcPct val="99600"/>
              </a:lnSpc>
            </a:pPr>
            <a:r>
              <a:rPr lang="en-US" sz="9648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98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32300" y="10083800"/>
            <a:ext cx="749300" cy="647700"/>
          </a:xfrm>
          <a:prstGeom prst="rect">
            <a:avLst/>
          </a:prstGeom>
        </p:spPr>
        <p:txBody>
          <a:bodyPr anchor="t" rtlCol="false" lIns="0" tIns="44026" rIns="0" bIns="0"/>
          <a:lstStyle/>
          <a:p>
            <a:pPr algn="l" lvl="0">
              <a:lnSpc>
                <a:spcPct val="99600"/>
              </a:lnSpc>
            </a:pPr>
            <a:r>
              <a:rPr lang="en-US" sz="3466" b="false" i="false" u="none" strike="noStrike" spc="-200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점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26200" y="9093200"/>
            <a:ext cx="6502400" cy="533400"/>
          </a:xfrm>
          <a:prstGeom prst="rect">
            <a:avLst/>
          </a:prstGeom>
        </p:spPr>
        <p:txBody>
          <a:bodyPr anchor="t" rtlCol="false" lIns="0" tIns="35559" rIns="0" bIns="0"/>
          <a:lstStyle/>
          <a:p>
            <a:pPr algn="l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고객의 높은 만족도를 경험하세요.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26200" y="9804400"/>
            <a:ext cx="64897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수치에 관한 내용을 입력해 주세요.</a:t>
            </a:r>
          </a:p>
          <a:p>
            <a:pPr algn="l" lvl="0">
              <a:lnSpc>
                <a:spcPct val="124499"/>
              </a:lnSpc>
            </a:pPr>
            <a:r>
              <a:rPr lang="en-US" sz="2399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이곳에 수치에 관한 내용을 입력해 주세요.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615400" y="12750800"/>
            <a:ext cx="1638300" cy="3810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r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08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50000" y="1193800"/>
            <a:ext cx="11696700" cy="596900"/>
          </a:xfrm>
          <a:prstGeom prst="rect">
            <a:avLst/>
          </a:prstGeom>
        </p:spPr>
        <p:txBody>
          <a:bodyPr anchor="t" rtlCol="false" lIns="0" tIns="6096" rIns="0" bIns="0"/>
          <a:lstStyle/>
          <a:p>
            <a:pPr algn="ctr" lvl="0">
              <a:lnSpc>
                <a:spcPct val="113710"/>
              </a:lnSpc>
            </a:pPr>
            <a:r>
              <a:rPr lang="en-US" sz="31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ABOUT MIRI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35700" y="1828800"/>
            <a:ext cx="11912600" cy="16383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공공기관 소개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89100" y="12725400"/>
            <a:ext cx="4229100" cy="3810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l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MIRI CITY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1900" y="12776200"/>
            <a:ext cx="3937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5600" y="368300"/>
            <a:ext cx="23660100" cy="1299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77900" y="12484100"/>
            <a:ext cx="224282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4252">
            <a:off x="977900" y="3733800"/>
            <a:ext cx="224282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8300" y="355600"/>
            <a:ext cx="236601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5321300"/>
            <a:ext cx="11595100" cy="660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169900" y="5321300"/>
            <a:ext cx="10071100" cy="312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169900" y="8788400"/>
            <a:ext cx="10071100" cy="31242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1615400" y="12750800"/>
            <a:ext cx="1638300" cy="3810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r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09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50000" y="1193800"/>
            <a:ext cx="11696700" cy="596900"/>
          </a:xfrm>
          <a:prstGeom prst="rect">
            <a:avLst/>
          </a:prstGeom>
        </p:spPr>
        <p:txBody>
          <a:bodyPr anchor="t" rtlCol="false" lIns="0" tIns="6096" rIns="0" bIns="0"/>
          <a:lstStyle/>
          <a:p>
            <a:pPr algn="ctr" lvl="0">
              <a:lnSpc>
                <a:spcPct val="113710"/>
              </a:lnSpc>
            </a:pPr>
            <a:r>
              <a:rPr lang="en-US" sz="31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ABOUT MIRI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35700" y="1828800"/>
            <a:ext cx="11912600" cy="16383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이미지 페이지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7100" y="4305300"/>
            <a:ext cx="225298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공공기관을 나타낼 수 있는 이미지를 넣어주세요.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9100" y="12725400"/>
            <a:ext cx="4229100" cy="3810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l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MIRI CITY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1900" y="12776200"/>
            <a:ext cx="3937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5600" y="368300"/>
            <a:ext cx="23660100" cy="1299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028700"/>
            <a:ext cx="224282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8300" y="12585700"/>
            <a:ext cx="236601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57300" y="6400800"/>
            <a:ext cx="3670300" cy="8382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656300" y="1346200"/>
            <a:ext cx="44704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DATE. 2090.8.15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300" y="1346200"/>
            <a:ext cx="35941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9518"/>
              </a:lnSpc>
            </a:pPr>
            <a:r>
              <a:rPr lang="en-US" sz="1866" b="false" i="false" u="none" strike="noStrike" cap="all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PUBLIC PROPOSAL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3800" y="6527800"/>
            <a:ext cx="3797300" cy="609600"/>
          </a:xfrm>
          <a:prstGeom prst="rect">
            <a:avLst/>
          </a:prstGeom>
        </p:spPr>
        <p:txBody>
          <a:bodyPr anchor="ctr" rtlCol="false" lIns="0" tIns="49611" rIns="0" bIns="49611"/>
          <a:lstStyle/>
          <a:p>
            <a:pPr algn="ctr" lvl="0">
              <a:lnSpc>
                <a:spcPct val="96279"/>
              </a:lnSpc>
            </a:pPr>
            <a:r>
              <a:rPr lang="en-US" sz="3254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27400" y="10756900"/>
            <a:ext cx="70993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24499"/>
              </a:lnSpc>
            </a:pPr>
            <a:r>
              <a:rPr lang="en-US" sz="21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contact@mirihr.com</a:t>
            </a:r>
          </a:p>
          <a:p>
            <a:pPr algn="r" lvl="0">
              <a:lnSpc>
                <a:spcPct val="124499"/>
              </a:lnSpc>
            </a:pPr>
            <a:r>
              <a:rPr lang="en-US" sz="21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070.1234.5678</a:t>
            </a:r>
          </a:p>
          <a:p>
            <a:pPr algn="r" lvl="0">
              <a:lnSpc>
                <a:spcPct val="124499"/>
              </a:lnSpc>
            </a:pPr>
            <a:r>
              <a:rPr lang="en-US" sz="21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미리시 미리로 3길 미리빌딩 3층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7300" y="7886700"/>
            <a:ext cx="152654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95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잘사는 미리시를 넘어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7300" y="9448800"/>
            <a:ext cx="15976600" cy="292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266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행복한 미리시로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353800" y="12839700"/>
            <a:ext cx="393700" cy="266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1861800" y="12788900"/>
            <a:ext cx="1231900" cy="342900"/>
          </a:xfrm>
          <a:prstGeom prst="rect">
            <a:avLst/>
          </a:prstGeom>
        </p:spPr>
        <p:txBody>
          <a:bodyPr anchor="t" rtlCol="false" lIns="0" tIns="44026" rIns="0" bIns="0"/>
          <a:lstStyle/>
          <a:p>
            <a:pPr algn="l" lvl="0">
              <a:lnSpc>
                <a:spcPct val="83000"/>
              </a:lnSpc>
            </a:pPr>
            <a:r>
              <a:rPr lang="en-US" sz="17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MIRI 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